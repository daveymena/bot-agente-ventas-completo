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para mostrar, no para vender. Cada número tiene una fuente: el repositorio (1.320 commits), la suite de tests, el endpoint /api/health de producción o los documentos de auditoría (ESTADO_MOTOR_VENTAS, TRASPASO_2026-09-05).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agentes con roles separados a propósito. El vendedor de WhatsApp tiene su propio camino: cola → AgentOrchestrator → runAgentReply. Atlas administra. El equipo de marketing corre solo y Atlas lo alcanza. La separación está escrita como regla en CLAUDE.md y AGENTS.md.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Fuentes: git rev-list --count (1.320), ls src/lib (190), find *.test.ts (185), grep de herramientas en app-operator.ts (100), carpeta marketing-team/agents (14), modelo-de-negocio.ts (6), TRASPASO_2026-09-05 §2.1 (costo), GET https://ventasproia.com/api/health del 11-09 (producción).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flujo no es lineal: el cliente puede entrar por el precio, por el pago o por una objeción. La lista de reglas viene de CLAUDE.md y del playbook; cada una tiene tests. El ejemplo de la derecha es la salida real registrada en ESTADO_WHATSAPP_24AGO §2, en el punto donde antes el bot se rendía.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 esto está desplegado. Lo que se muestra como problema en las próximas láminas no es que estas piezas no existan: es que hay cosas alrededor (proveedores, verificación de venta real, WhatsApp no oficial) que todavía limitan el resultado.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100 herramientas contadas en app-operator.ts. La puerta de confirmación es estructural: lo que no está en READ_ONLY_TOOLS exige confirmación (ESTADO_MOTOR_VENTAS §7). Desde el 06-09 Atlas puede crear agentes especializados adicionales y enseñarle al agente sin tocar código.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pantallas salen de App.tsx (29 rutas). El equipo de marketing quedó conectado el 01-09 y desde el 06-09 Atlas puede encenderlo. El Landing Studio se rediseñó el 05-09 con modo móvil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Acá no se esconde nada. Es la parte que le da credibilidad a la primera.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ESTADO_MOTOR_VENTAS.md §0, §3.3 y §9. Los arreglos de septiembre están en el git log (05-09 y 06-09). Este es el problema que más importa: todo lo demás son medios.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Fuentes: ESTADO_MOTOR_VENTAS §10, TRASPASO_2026-09-05 §2.1 y §2.4, PENDIENTE_ADMIN §1.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Fuentes: ESTADO_WHATSAPP_24AGO §1.1, TRASPASO_2026-09-05 §1.2 y §3.4, git log 07-09.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Fuentes: TRASPASO_2026-09-05 §3.1, §4 y §5; ESTADO_MOTOR_VENTAS §3.2 y §9. Medido hoy 11-09: 2.348 pasan, 167 skipped, 15 archivos con timeout del hook de setup a 30 s; los 4 re-corridos en aislamiento pasan.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Fuentes: PENDIENTE_ADMIN.md §2, TRASPASO_2026-09-05 §3.2, git log 07-09 y 09-09.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Fuentes: TRASPASO_2026-09-05 §1.1, §1.2, §2.2 y §2.3; commit del 07-09 sobre el contador; modelo-de-negocio.ts del 11-09.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fases numeradas son las de ESTADO_MOTOR_VENTAS §5 y §9: 0-4 y 8 hechas; faltan 5, 6, 7, 8.5 y 9. Las piezas de multicanal están en lib/facebook-messenger.ts, facebook-comments.ts, facebook-marketplace.ts. El APK está en la raíz del repo (ventaspro-release.apk).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seis modelos entraron el 11-09 (modelo-de-negocio.ts) a pedido del dueño: citas, asesorías y todos los modelos. Las condiciones de envío salen del perfil del negocio, no del código. El ciclo completo tiene todas las piezas construidas; el eslabón que falta verificar con dinero real es el del medio: la venta cerrada.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Fuentes: ESTADO_MOTOR_VENTAS §6 y §9 (tabla de medición), TRASPASO_2026-09-05 §2.1 y §2.2.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Cierre. Las tres decisiones están en TRASPASO_2026-09-05 §1.2. Ninguna se resuelve con código.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463040"/>
            <a:ext cx="5486400" cy="5486400"/>
          </a:xfrm>
          <a:prstGeom prst="ellipse">
            <a:avLst/>
          </a:prstGeom>
          <a:solidFill>
            <a:srgbClr val="4F46E5">
              <a:alpha val="22000"/>
            </a:srgbClr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3566160"/>
            <a:ext cx="4114800" cy="4114800"/>
          </a:xfrm>
          <a:prstGeom prst="ellipse">
            <a:avLst/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73736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73736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TÉCNICA · SEP 2026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945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VentasPro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291840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es, qué funciona hoy, qué está fallando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hasta dónde puede llegar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937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que dice esta presentación sale del código, de los tests y de producción.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no se pudo verificar está marcado como tal.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VentasPro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vendedor de WhatsApp con IA, un operador que administra el negocio y un equipo de marketing automático, sobre una plataforma multi-negocio.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520440" cy="3246120"/>
          </a:xfrm>
          <a:prstGeom prst="roundRect">
            <a:avLst>
              <a:gd name="adj" fmla="val 3380"/>
            </a:avLst>
          </a:prstGeom>
          <a:solidFill>
            <a:srgbClr val="EEF2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2194560"/>
            <a:ext cx="384048" cy="38404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61872" y="219456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Vendedor de WhatsApp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651760"/>
            <a:ext cx="3063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Atiende al cliente final las 24 h</a:t>
            </a:r>
            <a:endParaRPr lang="en-US" sz="14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Entiende, recomienda, resuelve objeciones y cierra</a:t>
            </a:r>
            <a:endParaRPr lang="en-US" sz="14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comprobantes, toma pedidos y entrega</a:t>
            </a:r>
            <a:endParaRPr lang="en-US" sz="14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Camino crítico independiente: no pasa por Atlas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325112" y="2011680"/>
            <a:ext cx="3520440" cy="3246120"/>
          </a:xfrm>
          <a:prstGeom prst="roundRect">
            <a:avLst>
              <a:gd name="adj" fmla="val 3380"/>
            </a:avLst>
          </a:prstGeom>
          <a:solidFill>
            <a:srgbClr val="EEF2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26280" y="2194560"/>
            <a:ext cx="384048" cy="38404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26280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038344" y="219456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(operador)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553712" y="2651760"/>
            <a:ext cx="3063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 del dueño del negocio</a:t>
            </a:r>
            <a:endParaRPr lang="en-US" sz="14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herramientas: catálogo, agente, anuncios, landing, diagnóstico</a:t>
            </a:r>
            <a:endParaRPr lang="en-US" sz="14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Propone → el dueño confirma → ejecuta</a:t>
            </a:r>
            <a:endParaRPr lang="en-US" sz="14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usar OpenCode/MCP para tareas de sistema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8101584" y="2011680"/>
            <a:ext cx="3520440" cy="3246120"/>
          </a:xfrm>
          <a:prstGeom prst="roundRect">
            <a:avLst>
              <a:gd name="adj" fmla="val 3380"/>
            </a:avLst>
          </a:prstGeom>
          <a:solidFill>
            <a:srgbClr val="EEF2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02752" y="2194560"/>
            <a:ext cx="384048" cy="38404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02752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814816" y="219456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de marketing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330184" y="2651760"/>
            <a:ext cx="3063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agentes especializados (copy, audiencias, presupuesto, escalado…)</a:t>
            </a:r>
            <a:endParaRPr lang="en-US" sz="14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Atribución anuncio → lead → venta</a:t>
            </a:r>
            <a:endParaRPr lang="en-US" sz="14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Guardia de presupuesto y motor de riesgo</a:t>
            </a:r>
            <a:endParaRPr lang="en-US" sz="14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lo enciende y lo consulta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5321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común: panel web (React) · API Express · SQLite/PostgreSQL · multi-tenant con planes · tienda pública · app Android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VentasPro · estado real al 11-09-2026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15568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tamaño real del sistema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Contado en el repositorio y medido en producción, no estimado.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202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1.320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76148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 en el repositorio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474720" y="19202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3474720" y="276148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en el motor (api-server/src/lib)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19202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2.348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276148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que pasan hoy (185 archivos, 0 fallos de aserción)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144000" y="19202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9144000" y="276148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que Atlas puede ejecutar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0233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86460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 del equipo de marketing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40233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3474720" y="486460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de negocio: físico, digital, servicio, suscripción, cotización, captación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309360" y="40233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$0,0033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486460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por mensaje de IA (factura real de DeepSeek, 3.915 pedidos)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0" y="40233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0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0" y="486460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 viva hoy: build del día, WhatsApp conectado, 5 modelos de visión, cola en 0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VentasPro · estado real al 11-09-2026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15568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vende el bot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 formulario ni un menú: el cliente marca el ritmo y el agente marca la dirección.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94360" y="1965960"/>
            <a:ext cx="1417320" cy="640080"/>
          </a:xfrm>
          <a:prstGeom prst="roundRect">
            <a:avLst>
              <a:gd name="adj" fmla="val 14286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96596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993392" y="1965960"/>
            <a:ext cx="219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194560" y="1965960"/>
            <a:ext cx="1417320" cy="640080"/>
          </a:xfrm>
          <a:prstGeom prst="roundRect">
            <a:avLst>
              <a:gd name="adj" fmla="val 14286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194560" y="196596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Responder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593592" y="1965960"/>
            <a:ext cx="219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794760" y="1965960"/>
            <a:ext cx="1417320" cy="640080"/>
          </a:xfrm>
          <a:prstGeom prst="roundRect">
            <a:avLst>
              <a:gd name="adj" fmla="val 14286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94760" y="196596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Descubrir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193792" y="1965960"/>
            <a:ext cx="219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394960" y="1965960"/>
            <a:ext cx="1417320" cy="640080"/>
          </a:xfrm>
          <a:prstGeom prst="roundRect">
            <a:avLst>
              <a:gd name="adj" fmla="val 14286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394960" y="196596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Recomendar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793992" y="1965960"/>
            <a:ext cx="219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995160" y="1965960"/>
            <a:ext cx="1417320" cy="640080"/>
          </a:xfrm>
          <a:prstGeom prst="roundRect">
            <a:avLst>
              <a:gd name="adj" fmla="val 14286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95160" y="196596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Objeción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394192" y="1965960"/>
            <a:ext cx="219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595360" y="1965960"/>
            <a:ext cx="1417320" cy="640080"/>
          </a:xfrm>
          <a:prstGeom prst="roundRect">
            <a:avLst>
              <a:gd name="adj" fmla="val 14286"/>
            </a:avLst>
          </a:prstGeom>
          <a:solidFill>
            <a:srgbClr val="4F46E5"/>
          </a:solidFill>
          <a:ln w="9525">
            <a:solidFill>
              <a:srgbClr val="4F46E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595360" y="196596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9994392" y="1965960"/>
            <a:ext cx="219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0195560" y="1965960"/>
            <a:ext cx="1417320" cy="640080"/>
          </a:xfrm>
          <a:prstGeom prst="roundRect">
            <a:avLst>
              <a:gd name="adj" fmla="val 14286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195560" y="196596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Postventa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4360" y="2926080"/>
            <a:ext cx="5486400" cy="3200400"/>
          </a:xfrm>
          <a:prstGeom prst="roundRect">
            <a:avLst>
              <a:gd name="adj" fmla="val 342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2960" y="310896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que el motor aplica de verdad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" y="3566160"/>
            <a:ext cx="50292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primero lo que el cliente acaba de preguntar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pregunta estratégica, y solo si cambia la recomendación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repite datos ya entregados (memoria comercial, playbook §14)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producto del mensaje actual manda sobre el historial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inventa precios, stock, garantías ni tiempos: los hechos los pone el servidor, el modelo redacta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"¿cómo pago?", "dale", "lo quiero" se leen con contexto, no con includes()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"lo voy a pensar" dispara diagnóstico de la duda, no despedida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355080" y="2926080"/>
            <a:ext cx="5257800" cy="3200400"/>
          </a:xfrm>
          <a:prstGeom prst="roundRect">
            <a:avLst>
              <a:gd name="adj" fmla="val 3429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583680" y="30632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Conversación real de prueba (scripts/probar-venta.ts)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583680" y="3520440"/>
            <a:ext cx="3291840" cy="502920"/>
          </a:xfrm>
          <a:prstGeom prst="roundRect">
            <a:avLst>
              <a:gd name="adj" fmla="val 21818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720840" y="35204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voy a pensar y te aviso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949440" y="4160520"/>
            <a:ext cx="4480560" cy="1691640"/>
          </a:xfrm>
          <a:prstGeom prst="roundRect">
            <a:avLst>
              <a:gd name="adj" fmla="val 6486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086600" y="4224528"/>
            <a:ext cx="42519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veces "lo voy a pensar" esconde algo que se puede resolver rápido.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te frena: el precio, o no estar seguro de que sea para alguien que nunca tocó nada?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VentasPro · estado real al 11-09-2026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15568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el vendedor ya hace hoy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punto existe en el código y tiene al menos un test. Módulos entre paréntesis.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611880" cy="1051560"/>
          </a:xfrm>
          <a:prstGeom prst="roundRect">
            <a:avLst>
              <a:gd name="adj" fmla="val 8696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938528"/>
            <a:ext cx="274320" cy="2743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938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89280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 comercial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240280"/>
            <a:ext cx="33375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Recuerda qué le dijo a cada cliente y no repite la ficha (customer-profile, datos-ya-dichos, no-repetir)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79392" y="1783080"/>
            <a:ext cx="3611880" cy="1051560"/>
          </a:xfrm>
          <a:prstGeom prst="roundRect">
            <a:avLst>
              <a:gd name="adj" fmla="val 8696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16552" y="1938528"/>
            <a:ext cx="274320" cy="2743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16552" y="1938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782312" y="189280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en foco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416552" y="2240280"/>
            <a:ext cx="33375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 de qué producto se habla aunque el cliente cambie (producto-en-foco, product-disambiguator)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10144" y="1783080"/>
            <a:ext cx="3611880" cy="1051560"/>
          </a:xfrm>
          <a:prstGeom prst="roundRect">
            <a:avLst>
              <a:gd name="adj" fmla="val 8696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47304" y="1938528"/>
            <a:ext cx="274320" cy="2743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147304" y="1938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513064" y="189280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acción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147304" y="2240280"/>
            <a:ext cx="33375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lead tiene una siguiente jugada y una prioridad (next-best-action, /api/conversations/pendientes)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2953512"/>
            <a:ext cx="3611880" cy="1051560"/>
          </a:xfrm>
          <a:prstGeom prst="roundRect">
            <a:avLst>
              <a:gd name="adj" fmla="val 8696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3108960"/>
            <a:ext cx="274320" cy="2743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3108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3063240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Comprobantes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3410712"/>
            <a:ext cx="33375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la captura con visión y la cruza con el correo del banco; el dueño aprueba desde el panel (leer-comprobante, pagos-por-correo, payment-approvals)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79392" y="2953512"/>
            <a:ext cx="3611880" cy="1051560"/>
          </a:xfrm>
          <a:prstGeom prst="roundRect">
            <a:avLst>
              <a:gd name="adj" fmla="val 8696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16552" y="3108960"/>
            <a:ext cx="274320" cy="2743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416552" y="3108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4782312" y="3063240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 físicos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416552" y="3410712"/>
            <a:ext cx="33375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Pide todos los datos, verifica zona, confirma con un sí y crea el pedido (cobro-y-entrega, dropshipping, WooCommerce/Dropi)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010144" y="2953512"/>
            <a:ext cx="3611880" cy="1051560"/>
          </a:xfrm>
          <a:prstGeom prst="roundRect">
            <a:avLst>
              <a:gd name="adj" fmla="val 8696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47304" y="3108960"/>
            <a:ext cx="274320" cy="2743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147304" y="3108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8513064" y="3063240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digital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8147304" y="3410712"/>
            <a:ext cx="33375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el enlace al confirmar el pago, por partes si hace falta (entrega-del-producto, entrega-por-partes)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" y="4123944"/>
            <a:ext cx="3611880" cy="1051560"/>
          </a:xfrm>
          <a:prstGeom prst="roundRect">
            <a:avLst>
              <a:gd name="adj" fmla="val 8696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85800" y="4279392"/>
            <a:ext cx="274320" cy="2743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85800" y="4279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1051560" y="4233672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e imágenes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685800" y="4581144"/>
            <a:ext cx="33375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Transcribe audios y no afirma lo que no vio en una imagen (media-entrante)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279392" y="4123944"/>
            <a:ext cx="3611880" cy="1051560"/>
          </a:xfrm>
          <a:prstGeom prst="roundRect">
            <a:avLst>
              <a:gd name="adj" fmla="val 8696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416552" y="4279392"/>
            <a:ext cx="274320" cy="2743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416552" y="4279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4782312" y="4233672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Recuperación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4416552" y="4581144"/>
            <a:ext cx="33375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Retoma al que se fue con contexto, no con "¿sigues interesado?" (recuperacion, followUpScheduler, remarketing)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010144" y="4123944"/>
            <a:ext cx="3611880" cy="1051560"/>
          </a:xfrm>
          <a:prstGeom prst="roundRect">
            <a:avLst>
              <a:gd name="adj" fmla="val 8696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147304" y="4279392"/>
            <a:ext cx="274320" cy="2743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147304" y="4279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8513064" y="4233672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8147304" y="4581144"/>
            <a:ext cx="33375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 a un humano con resumen comercial (handoff-brief)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48640" y="5294376"/>
            <a:ext cx="3611880" cy="1051560"/>
          </a:xfrm>
          <a:prstGeom prst="roundRect">
            <a:avLst>
              <a:gd name="adj" fmla="val 8696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85800" y="5449824"/>
            <a:ext cx="274320" cy="2743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685800" y="54498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2" name="Text 50"/>
          <p:cNvSpPr txBox="1"/>
          <p:nvPr/>
        </p:nvSpPr>
        <p:spPr>
          <a:xfrm>
            <a:off x="1051560" y="5404104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Anti-baneo</a:t>
            </a:r>
            <a:endParaRPr lang="en-US" sz="1300" dirty="0"/>
          </a:p>
        </p:txBody>
      </p:sp>
      <p:sp>
        <p:nvSpPr>
          <p:cNvPr id="53" name="Text 51"/>
          <p:cNvSpPr txBox="1"/>
          <p:nvPr/>
        </p:nvSpPr>
        <p:spPr>
          <a:xfrm>
            <a:off x="685800" y="5751576"/>
            <a:ext cx="33375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Espaciado 8–20 s, 60 msg/h, 400/día, corte a 5 fallos (whatsapp)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279392" y="5294376"/>
            <a:ext cx="3611880" cy="1051560"/>
          </a:xfrm>
          <a:prstGeom prst="roundRect">
            <a:avLst>
              <a:gd name="adj" fmla="val 8696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416552" y="5449824"/>
            <a:ext cx="274320" cy="2743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4416552" y="54498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7" name="Text 55"/>
          <p:cNvSpPr txBox="1"/>
          <p:nvPr/>
        </p:nvSpPr>
        <p:spPr>
          <a:xfrm>
            <a:off x="4782312" y="5404104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Apagado ordenado</a:t>
            </a:r>
            <a:endParaRPr lang="en-US" sz="1300" dirty="0"/>
          </a:p>
        </p:txBody>
      </p:sp>
      <p:sp>
        <p:nvSpPr>
          <p:cNvPr id="58" name="Text 56"/>
          <p:cNvSpPr txBox="1"/>
          <p:nvPr/>
        </p:nvSpPr>
        <p:spPr>
          <a:xfrm>
            <a:off x="4416552" y="5751576"/>
            <a:ext cx="33375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Cierra el socket bien al desplegar para no perder mensajes (apagado-ordenado)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8010144" y="5294376"/>
            <a:ext cx="3611880" cy="1051560"/>
          </a:xfrm>
          <a:prstGeom prst="roundRect">
            <a:avLst>
              <a:gd name="adj" fmla="val 8696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147304" y="5449824"/>
            <a:ext cx="274320" cy="2743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8147304" y="54498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62" name="Text 60"/>
          <p:cNvSpPr txBox="1"/>
          <p:nvPr/>
        </p:nvSpPr>
        <p:spPr>
          <a:xfrm>
            <a:off x="8513064" y="5404104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Compuerta final</a:t>
            </a:r>
            <a:endParaRPr lang="en-US" sz="1300" dirty="0"/>
          </a:p>
        </p:txBody>
      </p:sp>
      <p:sp>
        <p:nvSpPr>
          <p:cNvPr id="63" name="Text 61"/>
          <p:cNvSpPr txBox="1"/>
          <p:nvPr/>
        </p:nvSpPr>
        <p:spPr>
          <a:xfrm>
            <a:off x="8147304" y="5751576"/>
            <a:ext cx="33375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Última validación antes de enviar: nada inventado, nada interno (salida-segura-whatsapp, nada-interno)</a:t>
            </a:r>
            <a:endParaRPr lang="en-US" sz="1000" dirty="0"/>
          </a:p>
        </p:txBody>
      </p:sp>
      <p:sp>
        <p:nvSpPr>
          <p:cNvPr id="64" name="Text 62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VentasPro · estado real al 11-09-2026</a:t>
            </a:r>
            <a:endParaRPr lang="en-US" sz="900" dirty="0"/>
          </a:p>
        </p:txBody>
      </p:sp>
      <p:sp>
        <p:nvSpPr>
          <p:cNvPr id="65" name="Text 63"/>
          <p:cNvSpPr txBox="1"/>
          <p:nvPr/>
        </p:nvSpPr>
        <p:spPr>
          <a:xfrm>
            <a:off x="1115568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Atlas: el operador del negocio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dueño habla con Atlas en lenguaje natural; Atlas consulta, propone y ejecuta con confirmación.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920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860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el estado real: catálogo, conversaciones, campañas, pagos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64992" y="182880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47872" y="1920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Propone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547872" y="22860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 el plan y muestra qué va a cambiar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81344" y="182880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4F46E5"/>
          </a:solidFill>
          <a:ln w="9525">
            <a:solidFill>
              <a:srgbClr val="4F46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64224" y="1920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364224" y="22860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dueño dice sí (o ajusta)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997696" y="182880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80576" y="1920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9180576" y="22860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y registra la acción en auditoría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291840"/>
            <a:ext cx="3611880" cy="1298448"/>
          </a:xfrm>
          <a:prstGeom prst="roundRect">
            <a:avLst>
              <a:gd name="adj" fmla="val 8451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347472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de WhatsApp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3931920"/>
            <a:ext cx="31546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get_agent, update_agent, agente_crear, agente_conocimiento, configurar_mi_agente, agente_saber_producto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279392" y="3291840"/>
            <a:ext cx="3611880" cy="1298448"/>
          </a:xfrm>
          <a:prstGeom prst="roundRect">
            <a:avLst>
              <a:gd name="adj" fmla="val 8451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07992" y="347472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y tienda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507992" y="3931920"/>
            <a:ext cx="31546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create/update/delete_product, categorías, imágenes con IA, video, create_store, verificar_link_entrega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010144" y="3291840"/>
            <a:ext cx="3611880" cy="1298448"/>
          </a:xfrm>
          <a:prstGeom prst="roundRect">
            <a:avLst>
              <a:gd name="adj" fmla="val 8451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38744" y="347472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Ads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238744" y="3931920"/>
            <a:ext cx="31546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fb_create_ad, fb_set_budget, fb_pause/resume, fb_why_not_delivering, fb_campaign_metrics, fb_sync_catalog, pixel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4709160"/>
            <a:ext cx="3611880" cy="1298448"/>
          </a:xfrm>
          <a:prstGeom prst="roundRect">
            <a:avLst>
              <a:gd name="adj" fmla="val 8451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7240" y="489204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y contenido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77240" y="5349240"/>
            <a:ext cx="31546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propuesta_campana, plan_de_contenido, optimize_copy, optimize_price, marketing_attribution, email_campaign_send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279392" y="4709160"/>
            <a:ext cx="3611880" cy="1298448"/>
          </a:xfrm>
          <a:prstGeom prst="roundRect">
            <a:avLst>
              <a:gd name="adj" fmla="val 8451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507992" y="489204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Dropshipping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4507992" y="5349240"/>
            <a:ext cx="31546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dropi_search_products, dropi_import_product, dropi_create_order, dropi_status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010144" y="4709160"/>
            <a:ext cx="3611880" cy="1298448"/>
          </a:xfrm>
          <a:prstGeom prst="roundRect">
            <a:avLst>
              <a:gd name="adj" fmla="val 8451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238744" y="489204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8238744" y="5349240"/>
            <a:ext cx="31546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system_diagnose, test_ai_models, dashboard_summary, list_pending_transfers, confirm_transfer_payment, web_search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VentasPro · estado real al 11-09-2026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15568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de marketing y panel de control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corre solo y lo que el dueño ve.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86400" cy="3611880"/>
          </a:xfrm>
          <a:prstGeom prst="roundRect">
            <a:avLst>
              <a:gd name="adj" fmla="val 3038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01168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agentes de marketing (marketing-team/agents)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68880"/>
            <a:ext cx="50292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Estratega, investigador de mercado, estratega de audiencias y de oferta</a:t>
            </a:r>
            <a:endParaRPr lang="en-US" sz="13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Copywriter y director creativo</a:t>
            </a:r>
            <a:endParaRPr lang="en-US" sz="13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de Meta Ads, gestor de presupuesto, gestor de experimentos</a:t>
            </a:r>
            <a:endParaRPr lang="en-US" sz="13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 de rendimiento, agente de optimización, de escalado y de diagnóstico</a:t>
            </a:r>
            <a:endParaRPr lang="en-US" sz="13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 de marketing: aprende de campañas anteriores</a:t>
            </a:r>
            <a:endParaRPr lang="en-US" sz="13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Atribución: cruza el contexto del anuncio con los pagos → se puede decir cuánto produjo cada anuncio</a:t>
            </a:r>
            <a:endParaRPr lang="en-US" sz="13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Guardia de presupuesto + motor de riesgo antes de gastar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828800"/>
            <a:ext cx="5349240" cy="3611880"/>
          </a:xfrm>
          <a:prstGeom prst="roundRect">
            <a:avLst>
              <a:gd name="adj" fmla="val 3038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0" y="2011680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Pantallas del panel (ventas-pro)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468880"/>
            <a:ext cx="4892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Dashboard: ventas, qué requiere atención, KPIs, tendencia</a:t>
            </a:r>
            <a:endParaRPr lang="en-US" sz="13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Inbox de conversaciones y leads con etapa y puntaje</a:t>
            </a:r>
            <a:endParaRPr lang="en-US" sz="13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Pagos pendientes: aprobar o rechazar comprobantes</a:t>
            </a:r>
            <a:endParaRPr lang="en-US" sz="13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Productos, categorías, tienda pública, WooCommerce</a:t>
            </a:r>
            <a:endParaRPr lang="en-US" sz="13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 y monitor de WhatsApp en vivo</a:t>
            </a:r>
            <a:endParaRPr lang="en-US" sz="13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Diagnóstico: qué está roto y por qué, sin adivinar</a:t>
            </a:r>
            <a:endParaRPr lang="en-US" sz="13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Ads, Marketing, Landing Studio (28 layouts, 12 familias visuales)</a:t>
            </a:r>
            <a:endParaRPr lang="en-US" sz="13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Agentes, Configuración, Branding, Planes, Admin de negocios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5623560"/>
            <a:ext cx="11064240" cy="594360"/>
          </a:xfrm>
          <a:prstGeom prst="roundRect">
            <a:avLst>
              <a:gd name="adj" fmla="val 18462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56235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une las dos mitades: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anuncio → lead (con el contexto del anuncio guardado) → conversación → pago. La atribución ya cruza esas cuatro tablas; falta que el panel la muestre como dinero.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VentasPro · estado real al 11-09-2026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115568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200400"/>
            <a:ext cx="5486400" cy="5486400"/>
          </a:xfrm>
          <a:prstGeom prst="ellipse">
            <a:avLst/>
          </a:prstGeom>
          <a:solidFill>
            <a:srgbClr val="D97706">
              <a:alpha val="20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2103120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21031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SEGUNDA PARTE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56032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está fallando hoy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6576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problemas reales, cada uno con su evidencia y con la solución que ya está en marcha o que falta decidir.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1148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Todavía no hay una venta real medida de punta a punta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160520"/>
          </a:xfrm>
          <a:prstGeom prst="roundRect">
            <a:avLst>
              <a:gd name="adj" fmla="val 2637"/>
            </a:avLst>
          </a:prstGeom>
          <a:solidFill>
            <a:srgbClr val="FFFBEB"/>
          </a:solidFill>
          <a:ln w="9525">
            <a:solidFill>
              <a:srgbClr val="FDE68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73736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pasa (evidencia)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94560"/>
            <a:ext cx="50292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del 23-08 sobre 10 conversaciones reales: 0 llegaron a cierre, 0 tratos ganados, conversión 0 %</a:t>
            </a:r>
            <a:endParaRPr lang="en-US" sz="13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no era que cerrara mal: nunca intentaba cerrar</a:t>
            </a:r>
            <a:endParaRPr lang="en-US" sz="13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entonces se arreglaron las causas medidas: "¿cómo pago?" caía en la jugada genérica, 19 de 34 formas de decir "quiero comprar" no disparaban el cierre, cambiaba de producto al cobrar, prometía el link y no lo mandaba</a:t>
            </a:r>
            <a:endParaRPr lang="en-US" sz="13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métrica de tiempo de respuesta del panel nunca midió (comparaba "assistant" con "agent") y ocultó una primera respuesta de 85 minutos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63640" y="1554480"/>
            <a:ext cx="5349240" cy="4160520"/>
          </a:xfrm>
          <a:prstGeom prst="roundRect">
            <a:avLst>
              <a:gd name="adj" fmla="val 2637"/>
            </a:avLst>
          </a:prstGeom>
          <a:solidFill>
            <a:srgbClr val="ECFDF5"/>
          </a:solidFill>
          <a:ln w="9525">
            <a:solidFill>
              <a:srgbClr val="A7F3D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0" y="1737360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194560"/>
            <a:ext cx="4892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Correr el mismo conteo sobre las conversaciones de septiembre: cuántas llegan a closing, cuántas pagan</a:t>
            </a:r>
            <a:endParaRPr lang="en-US" sz="13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venta real verificada con comprobante aprobado y entrega registrada es el criterio de terminado</a:t>
            </a:r>
            <a:endParaRPr lang="en-US" sz="13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30 casos de prueba de negocio del spec (fase 9) para que no vuelva a pasar en silencio</a:t>
            </a:r>
            <a:endParaRPr lang="en-US" sz="13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Embudo de dinero en el panel (fase 7): impresiones → clics → leads → checkout → pagado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5852160"/>
            <a:ext cx="11064240" cy="457200"/>
          </a:xfrm>
          <a:prstGeom prst="roundRect">
            <a:avLst>
              <a:gd name="adj" fmla="val 20000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58521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Estado: </a:t>
            </a:r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causas conocidas están corregidas y desplegadas; el número de tratos ganados no se volvió a medir formalmente desde el 23-08.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VentasPro · estado real al 11-09-2026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15568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1148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 frágil de los proveedores de IA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160520"/>
          </a:xfrm>
          <a:prstGeom prst="roundRect">
            <a:avLst>
              <a:gd name="adj" fmla="val 2637"/>
            </a:avLst>
          </a:prstGeom>
          <a:solidFill>
            <a:srgbClr val="FFFBEB"/>
          </a:solidFill>
          <a:ln w="9525">
            <a:solidFill>
              <a:srgbClr val="FDE68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73736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pasa (evidencia)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94560"/>
            <a:ext cx="50292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tiene un solo modelo vivo: probados 7 proveedores, solo uno responde (Claude sin saldo, Gemini sin créditos, GPT sin autorización, Groq 404)</a:t>
            </a:r>
            <a:endParaRPr lang="en-US" sz="13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gratuito con 8.000 tokens/min compartido entre Atlas y el bot de ventas: el operador le roba la cuota al que vende</a:t>
            </a:r>
            <a:endParaRPr lang="en-US" sz="13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cae al modelo chico, inventa: dijo tener 2 productos habiendo 84</a:t>
            </a:r>
            <a:endParaRPr lang="en-US" sz="13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191.000 tokens por pedido cuando la carga real son 21.500: cada vuelta de herramientas reenvía todo el contexto</a:t>
            </a:r>
            <a:endParaRPr lang="en-US" sz="13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clave de Anthropic cargada en producción es inválida (401)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63640" y="1554480"/>
            <a:ext cx="5349240" cy="4160520"/>
          </a:xfrm>
          <a:prstGeom prst="roundRect">
            <a:avLst>
              <a:gd name="adj" fmla="val 2637"/>
            </a:avLst>
          </a:prstGeom>
          <a:solidFill>
            <a:srgbClr val="ECFDF5"/>
          </a:solidFill>
          <a:ln w="9525">
            <a:solidFill>
              <a:srgbClr val="A7F3D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0" y="1737360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194560"/>
            <a:ext cx="4892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Recargar cuota y separar claves: una para Atlas, otra para el vendedor (decisión del dueño, no código)</a:t>
            </a:r>
            <a:endParaRPr lang="en-US" sz="13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Corregir la clave de Anthropic: sería el mejor modelo de la lista</a:t>
            </a:r>
            <a:endParaRPr lang="en-US" sz="13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Reducir vueltas de herramientas y depender menos de la caché de DeepSeek (si el contexto deja de coincidir, cobra ~10×)</a:t>
            </a:r>
            <a:endParaRPr lang="en-US" sz="13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hecho: camino directo a DeepSeek (2,7 s vs 13–175 s), prompt por pedido (45 % menos), rotación con gpt-5.6-terra en WhatsApp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5852160"/>
            <a:ext cx="11064240" cy="457200"/>
          </a:xfrm>
          <a:prstGeom prst="roundRect">
            <a:avLst>
              <a:gd name="adj" fmla="val 20000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58521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Estado: </a:t>
            </a:r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parcialmente resuelto en código; lo que más cambia (cuota y claves) sigue pendiente del dueño.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VentasPro · estado real al 11-09-2026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15568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1148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corre sobre un cliente no oficial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160520"/>
          </a:xfrm>
          <a:prstGeom prst="roundRect">
            <a:avLst>
              <a:gd name="adj" fmla="val 2637"/>
            </a:avLst>
          </a:prstGeom>
          <a:solidFill>
            <a:srgbClr val="FFFBEB"/>
          </a:solidFill>
          <a:ln w="9525">
            <a:solidFill>
              <a:srgbClr val="FDE68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73736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pasa (evidencia)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94560"/>
            <a:ext cx="50292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Baileys (WhatsApp Web) no es la API oficial: hay riesgo real de baneo del número</a:t>
            </a:r>
            <a:endParaRPr lang="en-US" sz="13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despliegue mataba el socket sin cerrarlo: WhatsApp creía que había entregado y los mensajes de clientes de anuncios pagos se perdían sin rastro</a:t>
            </a:r>
            <a:endParaRPr lang="en-US" sz="13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intento anterior (sincronizar historial) dejó el bot "conectado" pero mudo</a:t>
            </a:r>
            <a:endParaRPr lang="en-US" sz="13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Hueco de baneo en el envío de imágenes: se salteaba las 3 protecciones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63640" y="1554480"/>
            <a:ext cx="5349240" cy="4160520"/>
          </a:xfrm>
          <a:prstGeom prst="roundRect">
            <a:avLst>
              <a:gd name="adj" fmla="val 2637"/>
            </a:avLst>
          </a:prstGeom>
          <a:solidFill>
            <a:srgbClr val="ECFDF5"/>
          </a:solidFill>
          <a:ln w="9525">
            <a:solidFill>
              <a:srgbClr val="A7F3D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0" y="1737360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194560"/>
            <a:ext cx="4892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hecho: apagado ordenado con SIGTERM (cierra sockets conservando credenciales, tope de 8 s), fix del número mudo tras despliegue (07-09), protecciones también en sendImage</a:t>
            </a:r>
            <a:endParaRPr lang="en-US" sz="13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verificar en vivo: escribirle al bot justo durante un despliegue</a:t>
            </a:r>
            <a:endParaRPr lang="en-US" sz="13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del dueño: seguir con Baileys o migrar a la API oficial de WhatsApp Business (entra costo por plantilla: USD 0,005–0,08)</a:t>
            </a:r>
            <a:endParaRPr lang="en-US" sz="13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en /health responde 200 aunque esté degradado, a propósito: el 503 va en /ready para que Docker no reinicie y corte la sesión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5852160"/>
            <a:ext cx="11064240" cy="457200"/>
          </a:xfrm>
          <a:prstGeom prst="roundRect">
            <a:avLst>
              <a:gd name="adj" fmla="val 20000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58521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Estado: </a:t>
            </a:r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arreglos desplegados; la verificación en vivo y la decisión sobre la API oficial siguen abiertas.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VentasPro · estado real al 11-09-2026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15568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1148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Salud del código: funciona, pero cuesta mantener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160520"/>
          </a:xfrm>
          <a:prstGeom prst="roundRect">
            <a:avLst>
              <a:gd name="adj" fmla="val 2637"/>
            </a:avLst>
          </a:prstGeom>
          <a:solidFill>
            <a:srgbClr val="FFFBEB"/>
          </a:solidFill>
          <a:ln w="9525">
            <a:solidFill>
              <a:srgbClr val="FDE68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73736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pasa (evidencia)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94560"/>
            <a:ext cx="50292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313 errores de typecheck como línea base aceptada</a:t>
            </a:r>
            <a:endParaRPr lang="en-US" sz="13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Corrida de hoy: 2.348 tests pasan, pero 15 archivos se caen por timeout del setup (SQLite compartido bajo carga); aislados, pasan. Otros 2 necesitan Postgres real</a:t>
            </a:r>
            <a:endParaRPr lang="en-US" sz="13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esquema de la base vive en 3 lugares + autoMigrate; olvidar uno rompe producción en silencio</a:t>
            </a:r>
            <a:endParaRPr lang="en-US" sz="13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repetido 5 veces en un día: código correcto que nadie llama (límites del plan, Landing Studio, cola de Copilot…)</a:t>
            </a:r>
            <a:endParaRPr lang="en-US" sz="13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 scripts sueltos en la raíz del repo, código muerto que parece vivo, otro agente commiteando con add -A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63640" y="1554480"/>
            <a:ext cx="5349240" cy="4160520"/>
          </a:xfrm>
          <a:prstGeom prst="roundRect">
            <a:avLst>
              <a:gd name="adj" fmla="val 2637"/>
            </a:avLst>
          </a:prstGeom>
          <a:solidFill>
            <a:srgbClr val="ECFDF5"/>
          </a:solidFill>
          <a:ln w="9525">
            <a:solidFill>
              <a:srgbClr val="A7F3D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0" y="1737360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194560"/>
            <a:ext cx="4892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que bloquee: typecheck en cero (bajar de 313 por módulos), tests verdes obligatorios antes de desplegar</a:t>
            </a:r>
            <a:endParaRPr lang="en-US" sz="13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fuente del esquema que genere las otras tres</a:t>
            </a:r>
            <a:endParaRPr lang="en-US" sz="13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ya escrita: cuando algo "ya está implementado", preguntar quién lo invoca; al arreglar, buscar el gemelo</a:t>
            </a:r>
            <a:endParaRPr lang="en-US" sz="13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Limpiar la raíz: mover scripts a scripts/, borrar los muertos (CODIGO_MUERTO.md ya los lista)</a:t>
            </a:r>
            <a:endParaRPr lang="en-US" sz="13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Aislar la base de pruebas por archivo y dar Postgres propio a los 2 que lo necesitan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5852160"/>
            <a:ext cx="11064240" cy="457200"/>
          </a:xfrm>
          <a:prstGeom prst="roundRect">
            <a:avLst>
              <a:gd name="adj" fmla="val 20000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58521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Estado: </a:t>
            </a:r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diagnosticado y documentado; no hay CI que lo haga cumplir todavía.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VentasPro · estado real al 11-09-2026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15568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1148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y operación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160520"/>
          </a:xfrm>
          <a:prstGeom prst="roundRect">
            <a:avLst>
              <a:gd name="adj" fmla="val 2637"/>
            </a:avLst>
          </a:prstGeom>
          <a:solidFill>
            <a:srgbClr val="FFFBEB"/>
          </a:solidFill>
          <a:ln w="9525">
            <a:solidFill>
              <a:srgbClr val="FDE68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73736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pasa (evidencia)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94560"/>
            <a:ext cx="50292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un build falla, EasyPanel devuelve el docker build con todas las claves en texto plano (Groq, Mistral, OpenRouter, DeepSeek, tokens de Facebook)</a:t>
            </a:r>
            <a:endParaRPr lang="en-US" sz="13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token de GitHub está en texto plano en la URL del remoto</a:t>
            </a:r>
            <a:endParaRPr lang="en-US" sz="13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tabla settings es una sola fila para toda la plataforma: no tiene tenant_id</a:t>
            </a:r>
            <a:endParaRPr lang="en-US" sz="13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clave del baúl de credenciales se reinventaba en cada arranque ("ayer funcionaba")</a:t>
            </a:r>
            <a:endParaRPr lang="en-US" sz="13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API de producción limita 100 req / 15 min: abrir el panel se come varias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63640" y="1554480"/>
            <a:ext cx="5349240" cy="4160520"/>
          </a:xfrm>
          <a:prstGeom prst="roundRect">
            <a:avLst>
              <a:gd name="adj" fmla="val 2637"/>
            </a:avLst>
          </a:prstGeom>
          <a:solidFill>
            <a:srgbClr val="ECFDF5"/>
          </a:solidFill>
          <a:ln w="9525">
            <a:solidFill>
              <a:srgbClr val="A7F3D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0" y="1737360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194560"/>
            <a:ext cx="4892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Rotar todas las claves y el token de GitHub (lista y enlaces en PENDIENTE_ADMIN.md)</a:t>
            </a:r>
            <a:endParaRPr lang="en-US" sz="13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hecho el 09-09: endurecer la superficie de la API, sacar secretos, proteger upload/sync; clave del baúl fija (07-09)</a:t>
            </a:r>
            <a:endParaRPr lang="en-US" sz="13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Claves de IA, Copilot, pagos, correo y Facebook ya son por negocio (tenants.api_keys y tablas propias)</a:t>
            </a:r>
            <a:endParaRPr lang="en-US" sz="13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Mover lo que queda en settings a configuración por negocio</a:t>
            </a:r>
            <a:endParaRPr lang="en-US" sz="13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 por negocio, no global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5852160"/>
            <a:ext cx="11064240" cy="457200"/>
          </a:xfrm>
          <a:prstGeom prst="roundRect">
            <a:avLst>
              <a:gd name="adj" fmla="val 20000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58521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Estado: </a:t>
            </a:r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fugas conocidas están cerradas en código; la rotación de claves es manual y pendiente.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VentasPro · estado real al 11-09-2026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15568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1148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de negocio del SaaS aún tiene decisiones abiertas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160520"/>
          </a:xfrm>
          <a:prstGeom prst="roundRect">
            <a:avLst>
              <a:gd name="adj" fmla="val 2637"/>
            </a:avLst>
          </a:prstGeom>
          <a:solidFill>
            <a:srgbClr val="FFFBEB"/>
          </a:solidFill>
          <a:ln w="9525">
            <a:solidFill>
              <a:srgbClr val="FDE68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73736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pasa (evidencia)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94560"/>
            <a:ext cx="50292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planes eran una sugerencia: el contador de consumo vivía en memoria y cada despliegue lo ponía en cero (12 despliegues el 07-09)</a:t>
            </a:r>
            <a:endParaRPr lang="en-US" sz="13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perdía USD 31 por venta antes del ajuste (USD 299 por 100.000 mensajes que costaban 330)</a:t>
            </a:r>
            <a:endParaRPr lang="en-US" sz="13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Cobrar por mensaje expone a un cliente charlatán; el mercado cobra por contacto o conversación</a:t>
            </a:r>
            <a:endParaRPr lang="en-US" sz="13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 duplicados con el mismo nombre y distinto precio: el bot no puede acertar cuál cotizar</a:t>
            </a:r>
            <a:endParaRPr lang="en-US" sz="13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Servicios, citas y suscripciones: el modelo existe desde hoy, la agenda todavía no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63640" y="1554480"/>
            <a:ext cx="5349240" cy="4160520"/>
          </a:xfrm>
          <a:prstGeom prst="roundRect">
            <a:avLst>
              <a:gd name="adj" fmla="val 2637"/>
            </a:avLst>
          </a:prstGeom>
          <a:solidFill>
            <a:srgbClr val="ECFDF5"/>
          </a:solidFill>
          <a:ln w="9525">
            <a:solidFill>
              <a:srgbClr val="A7F3D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0" y="1737360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194560"/>
            <a:ext cx="4892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hecho: consumo por negocio y mes persistido en base (07-09); planes recalculados con costo real (70–74 % de margen)</a:t>
            </a:r>
            <a:endParaRPr lang="en-US" sz="13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del dueño: qué pasa al pasarse del límite (cortar / avisar / degradar a modelo barato — recomendado degradar)</a:t>
            </a:r>
            <a:endParaRPr lang="en-US" sz="13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cobrar por conversación o contacto activo</a:t>
            </a:r>
            <a:endParaRPr lang="en-US" sz="13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Limpiar el catálogo o dejar que el importador rechace duplicados</a:t>
            </a:r>
            <a:endParaRPr lang="en-US" sz="13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Conectar una agenda real para el modelo "servicio"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5852160"/>
            <a:ext cx="11064240" cy="457200"/>
          </a:xfrm>
          <a:prstGeom prst="roundRect">
            <a:avLst>
              <a:gd name="adj" fmla="val 20000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58521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Estado: </a:t>
            </a:r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parte técnica está; faltan tres decisiones de negocio que no se resuelven con código.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VentasPro · estado real al 11-09-2026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15568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828800"/>
            <a:ext cx="5943600" cy="5943600"/>
          </a:xfrm>
          <a:prstGeom prst="ellipse">
            <a:avLst/>
          </a:prstGeom>
          <a:solidFill>
            <a:srgbClr val="059669">
              <a:alpha val="20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2103120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21031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TERCERA PARTE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56032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dónde puede llegar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6576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Ordenado por lo que ya tiene la plomería hecha y solo le falta comportamiento, hasta lo que hay que construir de cero.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sigue, en orden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orden sale del plan por fases: primero lo que recupera dinero con menos riesgo.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11880" cy="4389120"/>
          </a:xfrm>
          <a:prstGeom prst="roundRect">
            <a:avLst>
              <a:gd name="adj" fmla="val 3038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01168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casi: semanas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68880"/>
            <a:ext cx="315468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la venta real: embudo de dinero en el panel (fase 7)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asesor: que sugiera con la evidencia del negocio, no que solo reaccione (fase 8.5)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30 casos de prueba de negocio (fase 9)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en vivo el apagado ordenado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Rotar claves, separar cuotas de IA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para cuentas de Copilot (endpoints ya están)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79392" y="1828800"/>
            <a:ext cx="3611880" cy="4389120"/>
          </a:xfrm>
          <a:prstGeom prst="roundRect">
            <a:avLst>
              <a:gd name="adj" fmla="val 3038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07992" y="201168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Siguiente: 1–3 meses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507992" y="2468880"/>
            <a:ext cx="315468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Intención 100 % con IA: reemplazar las 8 listas de palabras por decisión con historial y producto en foco (fase 6)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de herramientas real: que el vendedor consulte stock, pedido y pago por function-calling (fase 5)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para servicios y citas (el modelo ya existe)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oficial de WhatsApp Business si el dueño lo decide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Cobro por conversación en vez de por mensaje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10144" y="1828800"/>
            <a:ext cx="3611880" cy="4389120"/>
          </a:xfrm>
          <a:prstGeom prst="roundRect">
            <a:avLst>
              <a:gd name="adj" fmla="val 3038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38744" y="201168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lejos: ya hay piezas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238744" y="2468880"/>
            <a:ext cx="315468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Multicanal: Messenger, comentarios y Marketplace de Facebook (módulos existen; el webhook de comentarios aún no se pudo suscribir)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Android como panel móvil (APK ya compilado)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Voz: audio ya se transcribe; falta responder con audio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Studio + anuncios + bot cerrando el ciclo sin intervención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negocio nuevo configurado por Atlas en una conversación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VentasPro · estado real al 11-09-2026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15568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puede hacer un negocio con esto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modelos de negocio, un mismo motor. Lo que cambia es qué pasa cuando el cliente dice que sí.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11880" cy="1325880"/>
          </a:xfrm>
          <a:prstGeom prst="roundRect">
            <a:avLst>
              <a:gd name="adj" fmla="val 8276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2011680"/>
            <a:ext cx="384048" cy="38404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61872" y="201168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Físico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46888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 envío → pedido en WooCommerce o Dropi → contraentrega o pago anticipado según el negocio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79392" y="1828800"/>
            <a:ext cx="3611880" cy="1325880"/>
          </a:xfrm>
          <a:prstGeom prst="roundRect">
            <a:avLst>
              <a:gd name="adj" fmla="val 8276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2011680"/>
            <a:ext cx="384048" cy="38404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8056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992624" y="201168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07992" y="246888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Comprobante leído y verificado → enlace de acceso entregado al instante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10144" y="1828800"/>
            <a:ext cx="3611880" cy="1325880"/>
          </a:xfrm>
          <a:prstGeom prst="roundRect">
            <a:avLst>
              <a:gd name="adj" fmla="val 8276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11312" y="2011680"/>
            <a:ext cx="384048" cy="38404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11312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723376" y="201168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238744" y="246888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Califica y agenda cita, asesoría o sesión (agenda por conectar)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291840"/>
            <a:ext cx="3611880" cy="1325880"/>
          </a:xfrm>
          <a:prstGeom prst="roundRect">
            <a:avLst>
              <a:gd name="adj" fmla="val 8276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9808" y="3474720"/>
            <a:ext cx="384048" cy="38404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49808" y="3474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261872" y="347472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Suscripción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393192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 acceso recurrente y cobra por período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279392" y="3291840"/>
            <a:ext cx="3611880" cy="1325880"/>
          </a:xfrm>
          <a:prstGeom prst="roundRect">
            <a:avLst>
              <a:gd name="adj" fmla="val 8276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80560" y="3474720"/>
            <a:ext cx="384048" cy="38404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480560" y="3474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992624" y="347472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Cotización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507992" y="393192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 requisitos y los deja listos para cotizar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10144" y="3291840"/>
            <a:ext cx="3611880" cy="1325880"/>
          </a:xfrm>
          <a:prstGeom prst="roundRect">
            <a:avLst>
              <a:gd name="adj" fmla="val 8276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11312" y="3474720"/>
            <a:ext cx="384048" cy="38404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11312" y="3474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723376" y="347472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Captación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8238744" y="393192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Califica al lead y lo deriva a quien cierra fuera del chat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4892040"/>
            <a:ext cx="11064240" cy="1325880"/>
          </a:xfrm>
          <a:prstGeom prst="roundRect">
            <a:avLst>
              <a:gd name="adj" fmla="val 8276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22960" y="4983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ciclo completo que la plataforma ya puede recorrer: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" y="5349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crea el producto y la landing → el equipo de marketing arma y publica el anuncio en Meta con presupuesto controlado → el cliente escribe por WhatsApp → el vendedor cierra, lee el comprobante y entrega → la atribución dice cuánto produjo ese anuncio → Atlas sugiere el siguiente ajuste.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VentasPro · estado real al 11-09-2026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1115568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sabremos si sirve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 tests ni por fases cerradas. Por estos cuatro números, sobre conversaciones reales.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312E81"/>
          </a:solidFill>
          <a:ln w="9525">
            <a:solidFill>
              <a:srgbClr val="3730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76272"/>
            <a:ext cx="411480" cy="41148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1762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12140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Tratos ganados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74320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Hoy: 0 medidos formalmente (23-08). Es el único número que importa.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17920" y="1920240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312E81"/>
          </a:solidFill>
          <a:ln w="9525">
            <a:solidFill>
              <a:srgbClr val="3730A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2176272"/>
            <a:ext cx="411480" cy="41148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46520" y="21762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040880" y="212140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primera respuesta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274320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Antes: 0 s (nunca midió). Hoy: 199 s reales. Meta: bajo el minuto.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4023360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312E81"/>
          </a:solidFill>
          <a:ln w="9525">
            <a:solidFill>
              <a:srgbClr val="3730A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4279392"/>
            <a:ext cx="411480" cy="41148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" y="42793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422452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por mensaje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484632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0,0033 hoy gracias a la caché. Vigilar que no suba 10× si el contexto deja de coincidir.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217920" y="4023360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312E81"/>
          </a:solidFill>
          <a:ln w="9525">
            <a:solidFill>
              <a:srgbClr val="3730A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520" y="4279392"/>
            <a:ext cx="411480" cy="41148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46520" y="42793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040880" y="422452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Margen por plan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484632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70–74 % con los límites persistidos. Antes, Enterprise perdía plata.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VentasPro · estado real al 11-09-2026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15568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06240"/>
            <a:ext cx="4572000" cy="4572000"/>
          </a:xfrm>
          <a:prstGeom prst="ellipse">
            <a:avLst/>
          </a:prstGeom>
          <a:solidFill>
            <a:srgbClr val="4F46E5">
              <a:alpha val="22000"/>
            </a:srgbClr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14630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una frase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011680"/>
            <a:ext cx="9326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plomería está construida y en producción. Lo que falta no es más código: es medir una venta real, tomar tres decisiones de negocio y dejar de depender de una sola cuenta gratuita de IA.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297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que solo puede tomar el dueño: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66344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pasa cuando un negocio se pasa de su plan?</a:t>
            </a:r>
            <a:endParaRPr lang="en-US" sz="14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¿Seguimos con Baileys o vamos a la API oficial de WhatsApp?</a:t>
            </a:r>
            <a:endParaRPr lang="en-US" sz="14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¿Cobramos por mensaje o por conversación?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VentasPro · estado real al 11-09-2026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15568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VentasPro — estado real</dc:title>
  <dc:subject>PptxGenJS Presentation</dc:subject>
  <dc:creator>VentasPro</dc:creator>
  <cp:lastModifiedBy>VentasPro</cp:lastModifiedBy>
  <cp:revision>1</cp:revision>
  <dcterms:created xsi:type="dcterms:W3CDTF">2026-09-12T00:20:01Z</dcterms:created>
  <dcterms:modified xsi:type="dcterms:W3CDTF">2026-09-12T00:20:01Z</dcterms:modified>
</cp:coreProperties>
</file>